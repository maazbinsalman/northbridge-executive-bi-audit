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Invoiced Revenue (£M)</c:v>
                </c:pt>
              </c:strCache>
            </c:strRef>
          </c:tx>
          <c:spPr>
            <a:solidFill>
              <a:srgbClr val="1E293B"/>
            </a:solidFill>
            <a:effectLst/>
          </c:spPr>
          <c:invertIfNegative val="0"/>
          <c:dLbls>
            <c:numFmt formatCode="£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21.03</c:v>
                </c:pt>
                <c:pt idx="1">
                  <c:v>24.35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Direct Delivery Cost (£M)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£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FY2024</c:v>
                  </c:pt>
                  <c:pt idx="1">
                    <c:v>FY2025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13.48</c:v>
                </c:pt>
                <c:pt idx="1">
                  <c:v>19.44</c:v>
                </c:pt>
              </c:numCache>
            </c:numRef>
          </c:val>
        </c:ser>
        <c:dLbls>
          <c:numFmt formatCode="£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1E29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9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Maintenance Contracts</c:v>
                  </c:pt>
                  <c:pt idx="1">
                    <c:v>Mechanical &amp; Electrical</c:v>
                  </c:pt>
                  <c:pt idx="2">
                    <c:v>Advisory</c:v>
                  </c:pt>
                  <c:pt idx="3">
                    <c:v>Civil Works</c:v>
                  </c:pt>
                  <c:pt idx="4">
                    <c:v>Facilities Support</c:v>
                  </c:pt>
                  <c:pt idx="5">
                    <c:v>Data &amp; Analytics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27.11</c:v>
                </c:pt>
                <c:pt idx="1">
                  <c:v>19.37</c:v>
                </c:pt>
                <c:pt idx="2">
                  <c:v>19.29</c:v>
                </c:pt>
                <c:pt idx="3">
                  <c:v>17.09</c:v>
                </c:pt>
                <c:pt idx="4">
                  <c:v>16.86</c:v>
                </c:pt>
                <c:pt idx="5">
                  <c:v>8.66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93B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Permanent</c:v>
                </c:pt>
                <c:pt idx="1">
                  <c:v>Contract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439.1</c:v>
                </c:pt>
                <c:pt idx="1">
                  <c:v>41.2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 Revenue (£M)</c:v>
                </c:pt>
              </c:strCache>
            </c:strRef>
          </c:tx>
          <c:spPr>
            <a:solidFill>
              <a:srgbClr val="1E293B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NB-01 Technical Services</c:v>
                  </c:pt>
                  <c:pt idx="1">
                    <c:v>NB-02 Advisory</c:v>
                  </c:pt>
                  <c:pt idx="2">
                    <c:v>NB-03 Facilities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9.71</c:v>
                </c:pt>
                <c:pt idx="1">
                  <c:v>7.28</c:v>
                </c:pt>
                <c:pt idx="2">
                  <c:v>7.36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GL Recognised Revenue (£M)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£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NB-01 Technical Services</c:v>
                  </c:pt>
                  <c:pt idx="1">
                    <c:v>NB-02 Advisory</c:v>
                  </c:pt>
                  <c:pt idx="2">
                    <c:v>NB-03 Facilities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7.83</c:v>
                </c:pt>
                <c:pt idx="1">
                  <c:v>7.22</c:v>
                </c:pt>
                <c:pt idx="2">
                  <c:v>7.26</c:v>
                </c:pt>
              </c:numCache>
            </c:numRef>
          </c:val>
        </c:ser>
        <c:dLbls>
          <c:numFmt formatCode="£0.0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Performance Overview: Revenue Growth vs. Profit Margin Collapse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760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Group — FY2025 Financial Performance Assessment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1237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62456"/>
            <a:ext cx="1940905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£24.35M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1940905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Invoiced Revenue (+15.8% YoY)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5577" y="1234440"/>
            <a:ext cx="21237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7017" y="1362456"/>
            <a:ext cx="1940905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£19.44M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837017" y="1865376"/>
            <a:ext cx="1940905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Delivery Labor Cost (+44.2% YoY)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33955" y="1234440"/>
            <a:ext cx="21237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5395" y="1362456"/>
            <a:ext cx="1940905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£4.91M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25395" y="1865376"/>
            <a:ext cx="1940905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(–35.0% YoY)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22332" y="1234440"/>
            <a:ext cx="21237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13772" y="1362456"/>
            <a:ext cx="1940905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20.17%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413772" y="1865376"/>
            <a:ext cx="1940905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 (was 35.90%)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10710" y="1234440"/>
            <a:ext cx="212378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02150" y="1362456"/>
            <a:ext cx="1940905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12.72%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02150" y="1865376"/>
            <a:ext cx="1940905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%, Contractor-Imputed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Direct Delivery Cost, FY2024–FY2025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926080"/>
          <a:ext cx="6766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7452360" y="2606040"/>
            <a:ext cx="4282135" cy="3520440"/>
          </a:xfrm>
          <a:prstGeom prst="roundRect">
            <a:avLst>
              <a:gd name="adj" fmla="val 1558"/>
            </a:avLst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0" y="2834640"/>
            <a:ext cx="38249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outran revenue 3x.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costs escalated nearly three times faster than revenue growth in FY2025.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£2.64M eroded.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inefficiency and uncosted contractor reliance eroded over £2.64M in potential gross profit.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lags.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Advisory (NB-02) posted the lowest entity margin at 16.61%, driven by senior grade over-allocation on fixed-fee contracts.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Group — FY2025 Executive Review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 Leakage: Service Line Margins &amp; Uncosted Contractor Burden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Gross Margin % by Service Line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6492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269480" y="1188720"/>
            <a:ext cx="4465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Delivery Hours by Engagement Type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7589520" y="1645920"/>
          <a:ext cx="3824935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7269480" y="3703320"/>
            <a:ext cx="4465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41,222 contractor hours (8.58%) logged across 18 uncosted positions.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269480" y="4114800"/>
            <a:ext cx="4465015" cy="12344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52360" y="4206240"/>
            <a:ext cx="4099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£144.9K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from Data &amp; Analytics — 36.4K hours at an untenable 8.66% margin, less than a third of the corporate target.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55321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 is heavily cannibalizing group margins, delivering high volume at a fraction of the corporate target margin.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contractor rate tracking in timesheets hides true direct labor costs and distorts project margin visibility.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Group — FY2025 Executive Review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Governance Audit: Invoiced Revenue vs. General Ledger Recognition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0669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16736"/>
            <a:ext cx="342381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£24.35M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64792"/>
            <a:ext cx="342381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System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2498" y="1188720"/>
            <a:ext cx="360669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3938" y="1316736"/>
            <a:ext cx="342381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£22.31M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3938" y="1764792"/>
            <a:ext cx="342381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Recognised Revenue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27797" y="1188720"/>
            <a:ext cx="360669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9237" y="1316736"/>
            <a:ext cx="342381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+£2.04M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19237" y="1764792"/>
            <a:ext cx="3423818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Variance (+9.14%)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Revenue vs. GL Recognised Revenue by Entity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" y="2743200"/>
          <a:ext cx="64922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7269480" y="2423160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vs. GL Variance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788920"/>
          <a:ext cx="4465015" cy="1737360"/>
        </p:xfrm>
        <a:graphic>
          <a:graphicData uri="http://schemas.openxmlformats.org/drawingml/2006/table">
            <a:tbl>
              <a:tblPr/>
              <a:tblGrid>
                <a:gridCol w="1488338"/>
                <a:gridCol w="1488338"/>
                <a:gridCol w="1488338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£1.89M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£54.8K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£97.5K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£2.04M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7269480" y="4709160"/>
            <a:ext cx="4465015" cy="1737360"/>
          </a:xfrm>
          <a:prstGeom prst="roundRect">
            <a:avLst>
              <a:gd name="adj" fmla="val 3158"/>
            </a:avLst>
          </a:prstGeom>
          <a:solidFill>
            <a:srgbClr val="F3F4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52360" y="4818888"/>
            <a:ext cx="4099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NB-01 drives the gap.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accounts for +£1.89M (24.1%) of the total lag, stemming from Q1 deferred revenue reversals and billing timing lags.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NB-02 and NB-03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tight accounting alignment, at +0.76% and +1.34% variance respectively.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57200" y="55778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figures overestimate short-term recognized revenue; financial controls must align operational billing cycles with General Ledger revenue recognition schedules.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Group — FY2025 Executive Review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C-Suite Action Plan: Margin Recovery &amp; Operational Governance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76218" cy="3200400"/>
          </a:xfrm>
          <a:prstGeom prst="roundRect">
            <a:avLst>
              <a:gd name="adj" fmla="val 2286"/>
            </a:avLst>
          </a:prstGeom>
          <a:solidFill>
            <a:srgbClr val="2A3648"/>
          </a:solidFill>
          <a:ln w="12700">
            <a:solidFill>
              <a:srgbClr val="3B4A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175564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3119018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860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2724912"/>
            <a:ext cx="31190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delivery leads to further margin decay below 10%.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07738" y="1188720"/>
            <a:ext cx="357621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6338" y="13716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36338" y="175564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Commercial Intervention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36338" y="2286000"/>
            <a:ext cx="3119018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36338" y="22860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36338" y="2724912"/>
            <a:ext cx="31190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contractor hours at &lt;5%, enforce a 15.0% minimum margin floor on Data &amp; Analytics bids, and re-balance senior/junior grade ratios in Advisory.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impact: recovers £1.85M–£2.40M gross profit.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8277" y="1188720"/>
            <a:ext cx="3576218" cy="3200400"/>
          </a:xfrm>
          <a:prstGeom prst="roundRect">
            <a:avLst>
              <a:gd name="adj" fmla="val 2286"/>
            </a:avLst>
          </a:prstGeom>
          <a:solidFill>
            <a:srgbClr val="2A3648"/>
          </a:solidFill>
          <a:ln w="12700">
            <a:solidFill>
              <a:srgbClr val="3B4A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6877" y="137160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86877" y="1755648"/>
            <a:ext cx="3119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Delivery Freeze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86877" y="2286000"/>
            <a:ext cx="3119018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386877" y="22860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86877" y="2724912"/>
            <a:ext cx="31190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halt on uncosted contractors and low-margin engagements.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7295" cy="1417320"/>
          </a:xfrm>
          <a:prstGeom prst="roundRect">
            <a:avLst>
              <a:gd name="adj" fmla="val 5161"/>
            </a:avLst>
          </a:prstGeom>
          <a:solidFill>
            <a:srgbClr val="141B29"/>
          </a:solidFill>
          <a:ln w="12700">
            <a:solidFill>
              <a:srgbClr val="3B4A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2578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OWNER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5800" y="5532120"/>
            <a:ext cx="3378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Chief Operating Officer (COO)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2498" y="52578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DEADLINE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92498" y="5532120"/>
            <a:ext cx="3378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31, 2026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99197" y="5257800"/>
            <a:ext cx="3378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99197" y="5532120"/>
            <a:ext cx="3378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Group Gross Margin from 20.17% to above 28.50%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27729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2026-08-10T20:07:29Z</dcterms:created>
  <dcterms:modified xsi:type="dcterms:W3CDTF">2026-08-10T20:07:29Z</dcterms:modified>
</cp:coreProperties>
</file>